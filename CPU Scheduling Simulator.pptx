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2"/>
    <p:sldId id="258" r:id="rId3"/>
    <p:sldId id="260" r:id="rId4"/>
    <p:sldId id="259" r:id="rId5"/>
    <p:sldId id="262" r:id="rId6"/>
    <p:sldId id="263" r:id="rId7"/>
    <p:sldId id="281" r:id="rId8"/>
    <p:sldId id="261" r:id="rId9"/>
    <p:sldId id="265" r:id="rId10"/>
    <p:sldId id="267" r:id="rId11"/>
    <p:sldId id="268" r:id="rId12"/>
    <p:sldId id="286" r:id="rId13"/>
    <p:sldId id="287" r:id="rId14"/>
    <p:sldId id="288" r:id="rId15"/>
    <p:sldId id="291" r:id="rId16"/>
    <p:sldId id="292" r:id="rId17"/>
    <p:sldId id="285" r:id="rId18"/>
    <p:sldId id="270" r:id="rId19"/>
    <p:sldId id="290" r:id="rId20"/>
    <p:sldId id="282" r:id="rId21"/>
    <p:sldId id="284" r:id="rId22"/>
    <p:sldId id="293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9"/>
  </p:normalViewPr>
  <p:slideViewPr>
    <p:cSldViewPr snapToGrid="0" snapToObjects="1">
      <p:cViewPr>
        <p:scale>
          <a:sx n="100" d="100"/>
          <a:sy n="100" d="100"/>
        </p:scale>
        <p:origin x="420" y="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86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66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43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8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76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08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63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AD897-D46E-4AD2-BD9B-49DD3E64087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07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62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60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CPU Scheduling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CPCS361 - </a:t>
            </a:r>
            <a:r>
              <a:rPr lang="en-US"/>
              <a:t>Operating System </a:t>
            </a:r>
            <a:r>
              <a:rPr lang="en-US" dirty="0"/>
              <a:t>Project </a:t>
            </a:r>
          </a:p>
        </p:txBody>
      </p:sp>
    </p:spTree>
    <p:extLst>
      <p:ext uri="{BB962C8B-B14F-4D97-AF65-F5344CB8AC3E}">
        <p14:creationId xmlns:p14="http://schemas.microsoft.com/office/powerpoint/2010/main" val="75946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Input specification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Correct System Configuration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dirty="0"/>
              <a:t>1. Correct System Configuration </a:t>
            </a:r>
          </a:p>
          <a:p>
            <a:r>
              <a:rPr lang="en-US" sz="1800" dirty="0"/>
              <a:t>2. Valid input for Jobs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D199E9-9C8D-475D-7C84-935647D76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3520"/>
            <a:ext cx="6966240" cy="496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2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Input specification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Valid input for Jobs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dirty="0"/>
              <a:t>1. Correct System Configuration </a:t>
            </a:r>
          </a:p>
          <a:p>
            <a:r>
              <a:rPr lang="en-US" sz="1800" dirty="0"/>
              <a:t>2. Valid input for Jobs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6AA7AE-704A-B551-7975-2FC0D395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842" y="2805812"/>
            <a:ext cx="7423749" cy="36372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E39959-AED2-C71E-EA6A-920507A3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017"/>
          <a:stretch>
            <a:fillRect/>
          </a:stretch>
        </p:blipFill>
        <p:spPr>
          <a:xfrm>
            <a:off x="4500060" y="1185305"/>
            <a:ext cx="7093315" cy="15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657A5E-8B02-DA0D-8166-4534CAD0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359" y="2176182"/>
            <a:ext cx="4772754" cy="4091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F8585-DB51-6BCA-D7FE-7299FF5DA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902" y="349938"/>
            <a:ext cx="6521785" cy="16637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693"/>
            <a:ext cx="3200400" cy="1623907"/>
          </a:xfrm>
        </p:spPr>
        <p:txBody>
          <a:bodyPr/>
          <a:lstStyle/>
          <a:p>
            <a:pPr algn="ctr"/>
            <a:r>
              <a:rPr lang="en-US" b="1" dirty="0"/>
              <a:t>Implementation of queues 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79600"/>
            <a:ext cx="3200400" cy="4425604"/>
          </a:xfrm>
        </p:spPr>
        <p:txBody>
          <a:bodyPr>
            <a:normAutofit/>
          </a:bodyPr>
          <a:lstStyle/>
          <a:p>
            <a:r>
              <a:rPr lang="en-US" sz="1800" dirty="0"/>
              <a:t>1. Implementation of the Hold Queue 1 by </a:t>
            </a:r>
            <a:r>
              <a:rPr lang="en-US" sz="1800" b="1" dirty="0"/>
              <a:t>memory ascending order </a:t>
            </a:r>
            <a:r>
              <a:rPr lang="en-US" sz="1800" dirty="0"/>
              <a:t>scheduling algorithm.</a:t>
            </a:r>
          </a:p>
          <a:p>
            <a:r>
              <a:rPr lang="en-US" sz="1800" dirty="0"/>
              <a:t>2. Implementation of the </a:t>
            </a:r>
            <a:r>
              <a:rPr lang="en-US" sz="1800" b="1" dirty="0"/>
              <a:t>Hold Queue 2 with First</a:t>
            </a:r>
            <a:r>
              <a:rPr lang="ar-SA" sz="1800" b="1" dirty="0"/>
              <a:t> </a:t>
            </a:r>
            <a:r>
              <a:rPr lang="en-US" sz="1800" b="1" dirty="0"/>
              <a:t>Come First Serve </a:t>
            </a:r>
            <a:r>
              <a:rPr lang="en-US" sz="1800" dirty="0"/>
              <a:t>scheduling algorithm. </a:t>
            </a:r>
          </a:p>
          <a:p>
            <a:r>
              <a:rPr lang="en-US" sz="1800" dirty="0"/>
              <a:t>3. Implementation of the </a:t>
            </a:r>
            <a:r>
              <a:rPr lang="en-US" sz="1800" b="1" dirty="0"/>
              <a:t>Ready Queue with First In First Out </a:t>
            </a:r>
            <a:r>
              <a:rPr lang="en-US" sz="1800" dirty="0"/>
              <a:t>scheduling algorithm 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33510E-C061-17A0-7DC5-9C2069ADCF9C}"/>
              </a:ext>
            </a:extLst>
          </p:cNvPr>
          <p:cNvCxnSpPr>
            <a:cxnSpLocks/>
          </p:cNvCxnSpPr>
          <p:nvPr/>
        </p:nvCxnSpPr>
        <p:spPr>
          <a:xfrm flipH="1">
            <a:off x="5652097" y="1543531"/>
            <a:ext cx="2272074" cy="8792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71236C-D21C-57E8-CF37-437055C2759A}"/>
              </a:ext>
            </a:extLst>
          </p:cNvPr>
          <p:cNvCxnSpPr>
            <a:cxnSpLocks/>
          </p:cNvCxnSpPr>
          <p:nvPr/>
        </p:nvCxnSpPr>
        <p:spPr>
          <a:xfrm>
            <a:off x="7924170" y="1699925"/>
            <a:ext cx="1335818" cy="2552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B0320E6-ABF4-FEC7-F0F9-75E01BC8A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569" y="4252824"/>
            <a:ext cx="3868156" cy="180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4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60A9B-4C93-36E6-7A55-44CE75A2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598" y="702501"/>
            <a:ext cx="6521785" cy="16637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693"/>
            <a:ext cx="3200400" cy="1623907"/>
          </a:xfrm>
        </p:spPr>
        <p:txBody>
          <a:bodyPr/>
          <a:lstStyle/>
          <a:p>
            <a:pPr algn="ctr"/>
            <a:r>
              <a:rPr lang="en-US" b="1" dirty="0"/>
              <a:t>Required Data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79600"/>
            <a:ext cx="3200400" cy="4425604"/>
          </a:xfrm>
        </p:spPr>
        <p:txBody>
          <a:bodyPr>
            <a:normAutofit/>
          </a:bodyPr>
          <a:lstStyle/>
          <a:p>
            <a:r>
              <a:rPr lang="en-US" sz="1800" dirty="0"/>
              <a:t>1. Implementation of a data structure for Jobs </a:t>
            </a:r>
          </a:p>
          <a:p>
            <a:r>
              <a:rPr lang="en-US" sz="1800" dirty="0"/>
              <a:t>2. Implementation of a data structure for Processes </a:t>
            </a:r>
          </a:p>
          <a:p>
            <a:r>
              <a:rPr lang="en-US" sz="1800" dirty="0"/>
              <a:t>3. Start reading the external event, assuming the internal event is null (infinity).</a:t>
            </a:r>
          </a:p>
          <a:p>
            <a:r>
              <a:rPr lang="en-US" sz="1800" dirty="0"/>
              <a:t>4. Declare the variable "current time". </a:t>
            </a:r>
          </a:p>
          <a:p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4538283" y="240836"/>
            <a:ext cx="6163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Implementation of a data structure for Jobs.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8283" y="2402706"/>
            <a:ext cx="6773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Implementation of a data structure </a:t>
            </a:r>
            <a:r>
              <a:rPr lang="en-US" sz="2400" b="1"/>
              <a:t>for Processes. 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E854B-DDCC-1C9A-0257-B81BC2EAA920}"/>
              </a:ext>
            </a:extLst>
          </p:cNvPr>
          <p:cNvSpPr/>
          <p:nvPr/>
        </p:nvSpPr>
        <p:spPr>
          <a:xfrm>
            <a:off x="5013858" y="1577328"/>
            <a:ext cx="4068773" cy="247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2B9A28-0A74-0763-977F-485E222D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713" y="2827952"/>
            <a:ext cx="4028323" cy="399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3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693"/>
            <a:ext cx="3200400" cy="1623907"/>
          </a:xfrm>
        </p:spPr>
        <p:txBody>
          <a:bodyPr/>
          <a:lstStyle/>
          <a:p>
            <a:pPr algn="ctr"/>
            <a:r>
              <a:rPr lang="en-US" b="1" dirty="0"/>
              <a:t>Required Data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79600"/>
            <a:ext cx="3200400" cy="4425604"/>
          </a:xfrm>
        </p:spPr>
        <p:txBody>
          <a:bodyPr>
            <a:normAutofit/>
          </a:bodyPr>
          <a:lstStyle/>
          <a:p>
            <a:r>
              <a:rPr lang="en-US" sz="1800" dirty="0"/>
              <a:t>1. Implementation of a data structure for Jobs </a:t>
            </a:r>
          </a:p>
          <a:p>
            <a:r>
              <a:rPr lang="en-US" sz="1800" dirty="0"/>
              <a:t>2. Implementation of a data structure for Processes </a:t>
            </a:r>
          </a:p>
          <a:p>
            <a:r>
              <a:rPr lang="en-US" sz="1800" dirty="0"/>
              <a:t>3. Start reading the external event, assuming the internal event is null (infinity).</a:t>
            </a:r>
          </a:p>
          <a:p>
            <a:r>
              <a:rPr lang="en-US" sz="1800" dirty="0"/>
              <a:t>4. Declare the variable "current time". </a:t>
            </a:r>
          </a:p>
          <a:p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4538283" y="240836"/>
            <a:ext cx="6163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Implement the read-process.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78C1F-EAEC-9F59-A74E-03FCE31A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17"/>
          <a:stretch>
            <a:fillRect/>
          </a:stretch>
        </p:blipFill>
        <p:spPr>
          <a:xfrm>
            <a:off x="5345252" y="2397140"/>
            <a:ext cx="5251082" cy="4362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76EEA6-D493-822B-4ADC-5246C841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765" y="702501"/>
            <a:ext cx="6294776" cy="16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0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608A-508E-2D78-09BA-BEE68D4E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711AF2-2965-B793-441F-BDD280839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009" y="1067646"/>
            <a:ext cx="7042637" cy="225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8ABBB2-96F2-17AD-919A-EDBA37B6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5693"/>
            <a:ext cx="3200400" cy="1623907"/>
          </a:xfrm>
        </p:spPr>
        <p:txBody>
          <a:bodyPr/>
          <a:lstStyle/>
          <a:p>
            <a:pPr algn="ctr"/>
            <a:r>
              <a:rPr lang="en-US" b="1" dirty="0"/>
              <a:t>Required Data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322CB-BDF1-5E2D-FF55-DA3367F62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879600"/>
            <a:ext cx="3200400" cy="4425604"/>
          </a:xfrm>
        </p:spPr>
        <p:txBody>
          <a:bodyPr>
            <a:normAutofit/>
          </a:bodyPr>
          <a:lstStyle/>
          <a:p>
            <a:r>
              <a:rPr lang="en-US" sz="1800" dirty="0"/>
              <a:t>1. Implementation of a data structure for Jobs </a:t>
            </a:r>
          </a:p>
          <a:p>
            <a:r>
              <a:rPr lang="en-US" sz="1800" dirty="0"/>
              <a:t>2. Implementation of a data structure for Processes </a:t>
            </a:r>
          </a:p>
          <a:p>
            <a:r>
              <a:rPr lang="en-US" sz="1800" dirty="0"/>
              <a:t>3. Start reading the external event, assuming the internal event is null (infinity).</a:t>
            </a:r>
          </a:p>
          <a:p>
            <a:r>
              <a:rPr lang="en-US" sz="1800" dirty="0"/>
              <a:t>4. Declare the variable "current time". </a:t>
            </a:r>
          </a:p>
          <a:p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ECC08-607F-C832-727E-20D4AABE24A2}"/>
              </a:ext>
            </a:extLst>
          </p:cNvPr>
          <p:cNvSpPr/>
          <p:nvPr/>
        </p:nvSpPr>
        <p:spPr>
          <a:xfrm>
            <a:off x="4413424" y="435685"/>
            <a:ext cx="6773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Declare the variable "current time".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25484-ED35-EA3C-4075-D0B88F67B13A}"/>
              </a:ext>
            </a:extLst>
          </p:cNvPr>
          <p:cNvSpPr/>
          <p:nvPr/>
        </p:nvSpPr>
        <p:spPr>
          <a:xfrm>
            <a:off x="4919683" y="1528266"/>
            <a:ext cx="3052167" cy="271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7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/>
              <a:t>System requirements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323339"/>
            <a:ext cx="3200400" cy="5394961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1. If there is not enough total main memory or total number of devices in the system for the job, the job is rejected </a:t>
            </a:r>
          </a:p>
          <a:p>
            <a:r>
              <a:rPr lang="en-US" sz="1800" dirty="0"/>
              <a:t>2. If there is enough main memory and devices for the job, then :</a:t>
            </a:r>
            <a:br>
              <a:rPr lang="en-US" sz="1800" dirty="0"/>
            </a:br>
            <a:r>
              <a:rPr lang="en-US" sz="1800" dirty="0"/>
              <a:t>• a process is created for the job,</a:t>
            </a:r>
            <a:br>
              <a:rPr lang="en-US" sz="1800" dirty="0"/>
            </a:br>
            <a:r>
              <a:rPr lang="en-US" sz="1800" dirty="0"/>
              <a:t>• the required main memory and devices are allocated to the process, by </a:t>
            </a:r>
            <a:r>
              <a:rPr lang="en-US" sz="1800" dirty="0" err="1"/>
              <a:t>otherKerService</a:t>
            </a:r>
            <a:r>
              <a:rPr lang="en-US" sz="1800" dirty="0"/>
              <a:t> class </a:t>
            </a:r>
          </a:p>
          <a:p>
            <a:r>
              <a:rPr lang="en-US" sz="1800" dirty="0"/>
              <a:t>3. If there is not enough available main memory or available devices for the job, the job is put in Hold Queue 1, if priority=1, the job is put in Hold Queue 2, if priority=2 </a:t>
            </a:r>
          </a:p>
          <a:p>
            <a:r>
              <a:rPr lang="en-US" sz="1800" dirty="0"/>
              <a:t>• the process is put in the Ready Queue. 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FAD85E-7D07-2DD7-2AA2-E09712367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43"/>
          <a:stretch>
            <a:fillRect/>
          </a:stretch>
        </p:blipFill>
        <p:spPr>
          <a:xfrm>
            <a:off x="5102506" y="957357"/>
            <a:ext cx="5620039" cy="558012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5F75F-C92E-FDEC-9851-940EC86077BB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442471" y="1552637"/>
            <a:ext cx="1771771" cy="1656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5CB36B-00E4-BDFC-3BA2-2642F748C1A4}"/>
              </a:ext>
            </a:extLst>
          </p:cNvPr>
          <p:cNvCxnSpPr>
            <a:cxnSpLocks/>
          </p:cNvCxnSpPr>
          <p:nvPr/>
        </p:nvCxnSpPr>
        <p:spPr>
          <a:xfrm flipV="1">
            <a:off x="3666805" y="4970899"/>
            <a:ext cx="1547437" cy="2516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0825D0-0D3D-4490-17BF-FB5270319662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761928" y="3204303"/>
            <a:ext cx="1504390" cy="85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Left Brace 24">
            <a:extLst>
              <a:ext uri="{FF2B5EF4-FFF2-40B4-BE49-F238E27FC236}">
                <a16:creationId xmlns:a16="http://schemas.microsoft.com/office/drawing/2014/main" id="{CD85755A-E46C-C2F1-4AB3-2D3AA34ECB97}"/>
              </a:ext>
            </a:extLst>
          </p:cNvPr>
          <p:cNvSpPr/>
          <p:nvPr/>
        </p:nvSpPr>
        <p:spPr>
          <a:xfrm>
            <a:off x="5214242" y="1064752"/>
            <a:ext cx="200647" cy="97577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9A3F055A-BBDD-2366-39A7-10938E38CFA6}"/>
              </a:ext>
            </a:extLst>
          </p:cNvPr>
          <p:cNvSpPr/>
          <p:nvPr/>
        </p:nvSpPr>
        <p:spPr>
          <a:xfrm>
            <a:off x="5266318" y="2296874"/>
            <a:ext cx="200647" cy="181485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E87B3D80-3A14-F4E4-FE55-15EE3607C4CD}"/>
              </a:ext>
            </a:extLst>
          </p:cNvPr>
          <p:cNvSpPr/>
          <p:nvPr/>
        </p:nvSpPr>
        <p:spPr>
          <a:xfrm>
            <a:off x="5266318" y="4154688"/>
            <a:ext cx="200647" cy="163856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9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/>
              <a:t>System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360679"/>
            <a:ext cx="6492240" cy="452121"/>
          </a:xfrm>
        </p:spPr>
        <p:txBody>
          <a:bodyPr/>
          <a:lstStyle/>
          <a:p>
            <a:r>
              <a:rPr lang="en-US" b="1" dirty="0"/>
              <a:t>Process Slice Handling - Termination States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40" y="1323339"/>
            <a:ext cx="3620778" cy="5394961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Lifecycle Transitions</a:t>
            </a:r>
          </a:p>
          <a:p>
            <a:r>
              <a:rPr lang="en-US" sz="1800" dirty="0"/>
              <a:t>startSliceAt:                                  Begins execution slice → updates sliceStart, sliceEndsAt, and sets state to RUNNING.</a:t>
            </a:r>
          </a:p>
          <a:p>
            <a:r>
              <a:rPr lang="en-US" sz="1800" dirty="0"/>
              <a:t>endSliceAt:                                       Ends slice → calculates execution time, updates remaining, transitions to READY or FINISHED.</a:t>
            </a:r>
          </a:p>
          <a:p>
            <a:r>
              <a:rPr lang="en-US" sz="1800" dirty="0"/>
              <a:t>markCompletedAt:                                 Fully completes job → sets remaining to 0, state to FINISHED, records completionTime.</a:t>
            </a:r>
          </a:p>
          <a:p>
            <a:r>
              <a:rPr lang="en-US" sz="1800" dirty="0"/>
              <a:t>Process Flow</a:t>
            </a:r>
          </a:p>
          <a:p>
            <a:r>
              <a:rPr lang="en-US" sz="1800" dirty="0"/>
              <a:t>Slice ends:</a:t>
            </a:r>
          </a:p>
          <a:p>
            <a:r>
              <a:rPr lang="en-US" sz="1800" dirty="0"/>
              <a:t>remaining &lt;= 0 → Finished.</a:t>
            </a:r>
          </a:p>
          <a:p>
            <a:r>
              <a:rPr lang="en-US" sz="1800" dirty="0"/>
              <a:t>remaining &gt; 0 → Ready.</a:t>
            </a:r>
          </a:p>
          <a:p>
            <a:endParaRPr lang="en-US" sz="1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B5AB88-0AD3-521E-F477-1DA28F90BFA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798412" y="1366076"/>
            <a:ext cx="1239993" cy="7204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F5253-99F7-6D7B-542A-0047DB263DE5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796535" y="3300508"/>
            <a:ext cx="1225849" cy="2890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E2A692-8905-BF2A-B3BB-17ED92B2C7B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657600" y="4559726"/>
            <a:ext cx="1392058" cy="12533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92C90BE-C5AB-15FF-4FD6-59626513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61" y="731518"/>
            <a:ext cx="4334704" cy="5875776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744AFDAD-39A9-D61E-92CF-4EF11154CA9A}"/>
              </a:ext>
            </a:extLst>
          </p:cNvPr>
          <p:cNvSpPr/>
          <p:nvPr/>
        </p:nvSpPr>
        <p:spPr>
          <a:xfrm>
            <a:off x="5038405" y="731518"/>
            <a:ext cx="318099" cy="1269115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27EF56A7-605B-1FAD-C33A-E8DFF657E146}"/>
              </a:ext>
            </a:extLst>
          </p:cNvPr>
          <p:cNvSpPr/>
          <p:nvPr/>
        </p:nvSpPr>
        <p:spPr>
          <a:xfrm>
            <a:off x="5022384" y="2153033"/>
            <a:ext cx="291162" cy="2873095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365FD549-C9BC-FFE5-A3FB-379DD2F68064}"/>
              </a:ext>
            </a:extLst>
          </p:cNvPr>
          <p:cNvSpPr/>
          <p:nvPr/>
        </p:nvSpPr>
        <p:spPr>
          <a:xfrm>
            <a:off x="5049658" y="5178528"/>
            <a:ext cx="318099" cy="1269115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7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534660"/>
          </a:xfrm>
        </p:spPr>
        <p:txBody>
          <a:bodyPr>
            <a:normAutofit/>
          </a:bodyPr>
          <a:lstStyle/>
          <a:p>
            <a:r>
              <a:rPr lang="en-US" sz="1800" dirty="0"/>
              <a:t>1. Correct next event time computation .</a:t>
            </a:r>
          </a:p>
          <a:p>
            <a:r>
              <a:rPr lang="en-US" sz="1800" dirty="0"/>
              <a:t>2. "current time" must always be advanced to the time of the next event by a single assignment. (The variable cannot be "stepped" by a fixed increment until it reached the time of the next event.) </a:t>
            </a:r>
          </a:p>
          <a:p>
            <a:r>
              <a:rPr lang="en-US" sz="1800" dirty="0"/>
              <a:t>3. A display event is external event </a:t>
            </a:r>
          </a:p>
          <a:p>
            <a:r>
              <a:rPr lang="en-US" sz="1800" dirty="0"/>
              <a:t>4. Read command from the input file is an external event </a:t>
            </a:r>
          </a:p>
          <a:p>
            <a:r>
              <a:rPr lang="en-US" sz="1800" dirty="0"/>
              <a:t>5. Handle all internal events before external </a:t>
            </a:r>
          </a:p>
          <a:p>
            <a:r>
              <a:rPr lang="en-US" sz="1800" dirty="0"/>
              <a:t>6. The end of a time slice is an internal event.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933" y="362187"/>
            <a:ext cx="6846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Correct next event time computation and current 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4617F7-6966-9FAF-681F-2E071BC5E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853" y="762297"/>
            <a:ext cx="7801907" cy="332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80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534660"/>
          </a:xfrm>
        </p:spPr>
        <p:txBody>
          <a:bodyPr>
            <a:normAutofit/>
          </a:bodyPr>
          <a:lstStyle/>
          <a:p>
            <a:r>
              <a:rPr lang="en-US" sz="1800" dirty="0"/>
              <a:t>1. Correct next event time computation .</a:t>
            </a:r>
          </a:p>
          <a:p>
            <a:r>
              <a:rPr lang="en-US" sz="1800" dirty="0"/>
              <a:t>2. "current time" must always be advanced to the time of the next event by a single assignment. (The variable cannot be "stepped" by a fixed increment until it reached the time of the next event.) </a:t>
            </a:r>
          </a:p>
          <a:p>
            <a:r>
              <a:rPr lang="en-US" sz="1800" dirty="0"/>
              <a:t>3. A display event is external event </a:t>
            </a:r>
          </a:p>
          <a:p>
            <a:r>
              <a:rPr lang="en-US" sz="1800" dirty="0"/>
              <a:t>4. Read command from the input file is an external event </a:t>
            </a:r>
          </a:p>
          <a:p>
            <a:r>
              <a:rPr lang="en-US" sz="1800" dirty="0"/>
              <a:t>5. Handle all internal events before external </a:t>
            </a:r>
          </a:p>
          <a:p>
            <a:r>
              <a:rPr lang="en-US" sz="1800" dirty="0"/>
              <a:t>6. The end of a time slice is an internal event. 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933" y="362187"/>
            <a:ext cx="15416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Arrival Event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6CD58F-30F6-F8B4-A00A-CFD01EEEB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573" y="1690575"/>
            <a:ext cx="4572001" cy="50576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F4BC2-598A-FE66-23B1-C37ABF82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398" y="731519"/>
            <a:ext cx="4864350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58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1320E-0324-E4EE-737F-A648DF88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8C37-8CE9-910B-7E10-419EA297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4A137-CA20-09F6-D881-798E782CE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3365261"/>
          </a:xfrm>
        </p:spPr>
        <p:txBody>
          <a:bodyPr>
            <a:normAutofit/>
          </a:bodyPr>
          <a:lstStyle/>
          <a:p>
            <a:r>
              <a:rPr lang="en-US" dirty="0"/>
              <a:t>Scheduler Interface provides a common structure for all scheduling strategies.</a:t>
            </a:r>
          </a:p>
          <a:p>
            <a:r>
              <a:rPr lang="en-US" dirty="0"/>
              <a:t>selectNextProcess(ReadyQueue </a:t>
            </a:r>
            <a:r>
              <a:rPr lang="en-US" dirty="0" err="1"/>
              <a:t>rq</a:t>
            </a:r>
            <a:r>
              <a:rPr lang="en-US" dirty="0"/>
              <a:t>) Picks the next process from the Ready Queue.</a:t>
            </a:r>
          </a:p>
          <a:p>
            <a:r>
              <a:rPr lang="en-US" dirty="0"/>
              <a:t>timeQuantumFor(Process candidate, ReadyQueue </a:t>
            </a:r>
            <a:r>
              <a:rPr lang="en-US" dirty="0" err="1"/>
              <a:t>rq</a:t>
            </a:r>
            <a:r>
              <a:rPr lang="en-US" dirty="0"/>
              <a:t>) Gives the time slice (quantum) that the selected process gets — whether it’s a fixed quantum (Static RR) or one that changes (Dynamic RR).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7019C-51CF-CB5E-1EAE-C08659973151}"/>
              </a:ext>
            </a:extLst>
          </p:cNvPr>
          <p:cNvSpPr/>
          <p:nvPr/>
        </p:nvSpPr>
        <p:spPr>
          <a:xfrm>
            <a:off x="4334933" y="362187"/>
            <a:ext cx="72822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Scheduler Interface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0A8820-69F8-83FC-3F4F-08545A53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418" y="843890"/>
            <a:ext cx="7530330" cy="165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67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1923-FA71-1C56-8BEC-CADEB561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6F43-467F-B1E4-C9CB-9F3835F3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3A2B-3ABD-F71C-9E27-33D6B479C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39"/>
            <a:ext cx="3200400" cy="5394961"/>
          </a:xfrm>
        </p:spPr>
        <p:txBody>
          <a:bodyPr>
            <a:normAutofit fontScale="70000" lnSpcReduction="20000"/>
          </a:bodyPr>
          <a:lstStyle/>
          <a:p>
            <a:r>
              <a:rPr lang="en-US" sz="1800" b="1" dirty="0"/>
              <a:t>SRR (Static Round Robin) Scheduler</a:t>
            </a:r>
            <a:endParaRPr lang="en-US" sz="1800" dirty="0"/>
          </a:p>
          <a:p>
            <a:r>
              <a:rPr lang="en-US" sz="2000" dirty="0"/>
              <a:t>SRR uses a </a:t>
            </a:r>
            <a:r>
              <a:rPr lang="en-US" sz="2000" b="1" dirty="0"/>
              <a:t>fixed, unchanging time quantum</a:t>
            </a:r>
            <a:r>
              <a:rPr lang="en-US" sz="2000" dirty="0"/>
              <a:t> for every process in the Ready Queue.</a:t>
            </a:r>
          </a:p>
          <a:p>
            <a:r>
              <a:rPr lang="en-US" sz="2000" b="1" dirty="0"/>
              <a:t>Quantum rule (as required):</a:t>
            </a:r>
            <a:r>
              <a:rPr lang="en-US" sz="2000" dirty="0"/>
              <a:t>             </a:t>
            </a:r>
            <a:r>
              <a:rPr lang="en-US" sz="1700" dirty="0" err="1"/>
              <a:t>timeQuantum</a:t>
            </a:r>
            <a:r>
              <a:rPr lang="en-US" sz="1700" dirty="0"/>
              <a:t> = 10 + </a:t>
            </a:r>
            <a:r>
              <a:rPr lang="en-US" sz="1700" dirty="0" err="1"/>
              <a:t>TeamNumber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Since </a:t>
            </a:r>
            <a:r>
              <a:rPr lang="en-US" sz="1700" dirty="0" err="1"/>
              <a:t>TeamNumber</a:t>
            </a:r>
            <a:r>
              <a:rPr lang="en-US" sz="1700" dirty="0"/>
              <a:t> = 7</a:t>
            </a:r>
            <a:r>
              <a:rPr lang="en-US" sz="2000" dirty="0"/>
              <a:t> → </a:t>
            </a:r>
            <a:r>
              <a:rPr lang="en-US" sz="2000" b="1" dirty="0"/>
              <a:t>Static Quantum = 17 </a:t>
            </a:r>
            <a:r>
              <a:rPr lang="en-US" sz="2000" b="1" dirty="0" err="1"/>
              <a:t>ms</a:t>
            </a:r>
            <a:r>
              <a:rPr lang="en-US" sz="2000" dirty="0" err="1"/>
              <a:t>.</a:t>
            </a:r>
            <a:endParaRPr lang="en-US" sz="2000" dirty="0"/>
          </a:p>
          <a:p>
            <a:r>
              <a:rPr lang="en-US" sz="2000" dirty="0"/>
              <a:t>The constructor </a:t>
            </a:r>
            <a:r>
              <a:rPr lang="en-US" sz="1700" dirty="0" err="1"/>
              <a:t>SRoundRobinScheduler</a:t>
            </a:r>
            <a:r>
              <a:rPr lang="en-US" sz="1700" dirty="0"/>
              <a:t>(long </a:t>
            </a:r>
            <a:r>
              <a:rPr lang="en-US" sz="1700" dirty="0" err="1"/>
              <a:t>fixedQuantum</a:t>
            </a:r>
            <a:r>
              <a:rPr lang="en-US" sz="1700" dirty="0"/>
              <a:t>)</a:t>
            </a:r>
            <a:r>
              <a:rPr lang="en-US" sz="2000" dirty="0"/>
              <a:t> stores this value (e.g., </a:t>
            </a:r>
            <a:r>
              <a:rPr lang="en-US" sz="1700" dirty="0"/>
              <a:t>17</a:t>
            </a:r>
            <a:r>
              <a:rPr lang="en-US" sz="2000" dirty="0"/>
              <a:t>) in </a:t>
            </a:r>
            <a:r>
              <a:rPr lang="en-US" sz="1700" dirty="0" err="1"/>
              <a:t>fixedQuantum</a:t>
            </a:r>
            <a:r>
              <a:rPr lang="en-US" sz="2000" dirty="0"/>
              <a:t>.</a:t>
            </a:r>
          </a:p>
          <a:p>
            <a:r>
              <a:rPr lang="en-US" sz="1700" dirty="0" err="1"/>
              <a:t>selectNextProcess</a:t>
            </a:r>
            <a:r>
              <a:rPr lang="en-US" sz="1700" dirty="0"/>
              <a:t>(</a:t>
            </a:r>
            <a:r>
              <a:rPr lang="en-US" sz="1700" dirty="0" err="1"/>
              <a:t>ReadyQueue</a:t>
            </a:r>
            <a:r>
              <a:rPr lang="en-US" sz="1700" dirty="0"/>
              <a:t> </a:t>
            </a:r>
            <a:r>
              <a:rPr lang="en-US" sz="1700" dirty="0" err="1"/>
              <a:t>rq</a:t>
            </a:r>
            <a:r>
              <a:rPr lang="en-US" sz="1700" dirty="0"/>
              <a:t>)</a:t>
            </a:r>
            <a:r>
              <a:rPr lang="en-US" sz="2000" dirty="0"/>
              <a:t> simply calls </a:t>
            </a:r>
            <a:r>
              <a:rPr lang="en-US" sz="1700" dirty="0" err="1"/>
              <a:t>rq.dequeue</a:t>
            </a:r>
            <a:r>
              <a:rPr lang="en-US" sz="1700" dirty="0"/>
              <a:t>()</a:t>
            </a:r>
            <a:r>
              <a:rPr lang="en-US" sz="2000" dirty="0"/>
              <a:t>, so the </a:t>
            </a:r>
            <a:r>
              <a:rPr lang="en-US" sz="2000" b="1" dirty="0"/>
              <a:t>next process is always taken from the front of the Ready Queue</a:t>
            </a:r>
            <a:r>
              <a:rPr lang="en-US" sz="2000" dirty="0"/>
              <a:t> → the queue behaves like a normal </a:t>
            </a:r>
            <a:r>
              <a:rPr lang="en-US" sz="2000" b="1" dirty="0"/>
              <a:t>FIFO</a:t>
            </a:r>
            <a:r>
              <a:rPr lang="en-US" sz="2000" dirty="0"/>
              <a:t> queue.</a:t>
            </a:r>
          </a:p>
          <a:p>
            <a:r>
              <a:rPr lang="en-US" sz="1700" dirty="0" err="1"/>
              <a:t>timeQuantumFor</a:t>
            </a:r>
            <a:r>
              <a:rPr lang="en-US" sz="1700" dirty="0"/>
              <a:t>(Process candidate, </a:t>
            </a:r>
            <a:r>
              <a:rPr lang="en-US" sz="1700" dirty="0" err="1"/>
              <a:t>ReadyQueue</a:t>
            </a:r>
            <a:r>
              <a:rPr lang="en-US" sz="1700" dirty="0"/>
              <a:t> </a:t>
            </a:r>
            <a:r>
              <a:rPr lang="en-US" sz="1700" dirty="0" err="1"/>
              <a:t>rq</a:t>
            </a:r>
            <a:r>
              <a:rPr lang="en-US" sz="1700" dirty="0"/>
              <a:t>)</a:t>
            </a:r>
            <a:r>
              <a:rPr lang="en-US" sz="2000" dirty="0"/>
              <a:t> always returns </a:t>
            </a:r>
            <a:r>
              <a:rPr lang="en-US" sz="1700" dirty="0" err="1"/>
              <a:t>fixedQuantum</a:t>
            </a:r>
            <a:r>
              <a:rPr lang="en-US" sz="2000" dirty="0"/>
              <a:t>, so </a:t>
            </a:r>
            <a:r>
              <a:rPr lang="en-US" sz="2000" b="1" dirty="0"/>
              <a:t>every process gets exactly 17 </a:t>
            </a:r>
            <a:r>
              <a:rPr lang="en-US" sz="2000" b="1" dirty="0" err="1"/>
              <a:t>ms</a:t>
            </a:r>
            <a:r>
              <a:rPr lang="en-US" sz="2000" dirty="0"/>
              <a:t> when it reaches the CPU.</a:t>
            </a:r>
          </a:p>
          <a:p>
            <a:r>
              <a:rPr lang="en-US" sz="1800" dirty="0"/>
              <a:t>After its 17 </a:t>
            </a:r>
            <a:r>
              <a:rPr lang="en-US" sz="1800" dirty="0" err="1"/>
              <a:t>ms</a:t>
            </a:r>
            <a:r>
              <a:rPr lang="en-US" sz="1800" dirty="0"/>
              <a:t> slice finishes:</a:t>
            </a:r>
          </a:p>
          <a:p>
            <a:r>
              <a:rPr lang="en-US" sz="1800" b="1" dirty="0"/>
              <a:t>If the process is NOT done</a:t>
            </a:r>
            <a:r>
              <a:rPr lang="en-US" sz="1800" dirty="0"/>
              <a:t> → it is re-enqueued at the </a:t>
            </a:r>
            <a:r>
              <a:rPr lang="en-US" sz="1800" b="1" dirty="0"/>
              <a:t>end</a:t>
            </a:r>
            <a:r>
              <a:rPr lang="en-US" sz="1800" dirty="0"/>
              <a:t> of the Ready Queue.</a:t>
            </a:r>
          </a:p>
          <a:p>
            <a:r>
              <a:rPr lang="en-US" sz="1800" b="1" dirty="0"/>
              <a:t>If the process has finished</a:t>
            </a:r>
            <a:r>
              <a:rPr lang="en-US" sz="1800" dirty="0"/>
              <a:t> → it is </a:t>
            </a:r>
            <a:r>
              <a:rPr lang="en-US" sz="1800" b="1" dirty="0"/>
              <a:t>removed</a:t>
            </a:r>
            <a:r>
              <a:rPr lang="en-US" sz="1800" dirty="0"/>
              <a:t> and no longer scheduled.</a:t>
            </a:r>
          </a:p>
          <a:p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0E47E-7BC5-C92A-F734-B078C6E6CC11}"/>
              </a:ext>
            </a:extLst>
          </p:cNvPr>
          <p:cNvSpPr/>
          <p:nvPr/>
        </p:nvSpPr>
        <p:spPr>
          <a:xfrm>
            <a:off x="4334933" y="362187"/>
            <a:ext cx="72822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Static Round Robin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1669E-0510-3386-F9A1-7BF6A8AA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502" y="762297"/>
            <a:ext cx="7282243" cy="4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24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5133-1502-5A8E-C7A3-A906301C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1B92-8FBB-1DD9-AB9B-EF0B4B95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94A2B-3215-A346-1791-A77B2B7AA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009954"/>
          </a:xfrm>
        </p:spPr>
        <p:txBody>
          <a:bodyPr>
            <a:normAutofit/>
          </a:bodyPr>
          <a:lstStyle/>
          <a:p>
            <a:r>
              <a:rPr lang="en-US" b="1" dirty="0"/>
              <a:t>DRR (Dynamic Round Robin) Scheduler</a:t>
            </a:r>
            <a:endParaRPr lang="en-US" dirty="0"/>
          </a:p>
          <a:p>
            <a:r>
              <a:rPr lang="en-US" dirty="0"/>
              <a:t>DRR </a:t>
            </a:r>
            <a:r>
              <a:rPr lang="en-US" b="1" dirty="0"/>
              <a:t>doesn’t use a fixed, constant quantum</a:t>
            </a:r>
            <a:r>
              <a:rPr lang="en-US" dirty="0"/>
              <a:t>.</a:t>
            </a:r>
          </a:p>
          <a:p>
            <a:r>
              <a:rPr lang="en-US" dirty="0"/>
              <a:t>Instead, the </a:t>
            </a:r>
            <a:r>
              <a:rPr lang="en-US" b="1" dirty="0"/>
              <a:t>time slice is recomputed every time the CPU becomes idle</a:t>
            </a:r>
            <a:r>
              <a:rPr lang="en-US" dirty="0"/>
              <a:t>, based on the current processes in the Ready Queue.</a:t>
            </a:r>
          </a:p>
          <a:p>
            <a:r>
              <a:rPr lang="en-US" dirty="0"/>
              <a:t>In the code, </a:t>
            </a:r>
            <a:r>
              <a:rPr lang="en-US" dirty="0" err="1"/>
              <a:t>DRoundRobinScheduler.selectNextProcess</a:t>
            </a:r>
            <a:r>
              <a:rPr lang="en-US" dirty="0"/>
              <a:t>() just does </a:t>
            </a:r>
            <a:r>
              <a:rPr lang="en-US" dirty="0" err="1"/>
              <a:t>rq.dequeue</a:t>
            </a:r>
            <a:r>
              <a:rPr lang="en-US" dirty="0"/>
              <a:t>(), so the </a:t>
            </a:r>
            <a:r>
              <a:rPr lang="en-US" b="1" dirty="0"/>
              <a:t>next process is always taken from the front of the Ready Queue (FIFO order)</a:t>
            </a:r>
            <a:r>
              <a:rPr lang="en-US" dirty="0"/>
              <a:t>.</a:t>
            </a:r>
          </a:p>
          <a:p>
            <a:r>
              <a:rPr lang="en-US" dirty="0"/>
              <a:t>The method </a:t>
            </a:r>
            <a:r>
              <a:rPr lang="en-US" dirty="0" err="1"/>
              <a:t>timeQuantumFor</a:t>
            </a:r>
            <a:r>
              <a:rPr lang="en-US" dirty="0"/>
              <a:t>(...) is </a:t>
            </a:r>
            <a:r>
              <a:rPr lang="en-US" b="1" dirty="0"/>
              <a:t>not used for DRR</a:t>
            </a:r>
            <a:r>
              <a:rPr lang="en-US" dirty="0"/>
              <a:t> → it returns 0L only as a </a:t>
            </a:r>
            <a:r>
              <a:rPr lang="en-US" b="1" dirty="0"/>
              <a:t>stub</a:t>
            </a:r>
            <a:r>
              <a:rPr lang="en-US" dirty="0"/>
              <a:t>. The </a:t>
            </a:r>
            <a:r>
              <a:rPr lang="en-US" i="1" dirty="0"/>
              <a:t>real</a:t>
            </a:r>
            <a:r>
              <a:rPr lang="en-US" dirty="0"/>
              <a:t> quantum calculation happens in </a:t>
            </a:r>
            <a:r>
              <a:rPr lang="en-US" dirty="0" err="1"/>
              <a:t>PrManager.dispatchIfIdle</a:t>
            </a:r>
            <a:r>
              <a:rPr lang="en-US" dirty="0"/>
              <a:t>().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7D8E1-FD47-B05F-0A5E-86AED53E9F65}"/>
              </a:ext>
            </a:extLst>
          </p:cNvPr>
          <p:cNvSpPr/>
          <p:nvPr/>
        </p:nvSpPr>
        <p:spPr>
          <a:xfrm>
            <a:off x="4334933" y="362187"/>
            <a:ext cx="72822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Dynamic Round Robin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EB2EA-0971-DA07-56E1-560F30D1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78" y="838702"/>
            <a:ext cx="7138648" cy="52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4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3284-50BE-9CF3-AAD7-0EBD632A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43C2-230D-4E4F-BFA7-66D122E8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3D4A8-FA20-C12B-501F-4F0A5E7B0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255430"/>
          </a:xfrm>
        </p:spPr>
        <p:txBody>
          <a:bodyPr>
            <a:normAutofit/>
          </a:bodyPr>
          <a:lstStyle/>
          <a:p>
            <a:r>
              <a:rPr lang="en-US" b="1" dirty="0"/>
              <a:t>Checks if CPU is busy</a:t>
            </a:r>
            <a:r>
              <a:rPr lang="en-US" dirty="0"/>
              <a:t> - returns immediately if a process is already running</a:t>
            </a:r>
          </a:p>
          <a:p>
            <a:r>
              <a:rPr lang="en-US" b="1" dirty="0"/>
              <a:t>Gets next process</a:t>
            </a:r>
            <a:r>
              <a:rPr lang="en-US" dirty="0"/>
              <a:t> - asks the scheduler to pick from the ready queue</a:t>
            </a:r>
          </a:p>
          <a:p>
            <a:r>
              <a:rPr lang="en-US" b="1" dirty="0"/>
              <a:t>Handles empty queue</a:t>
            </a:r>
            <a:r>
              <a:rPr lang="en-US" dirty="0"/>
              <a:t> - if no processes ready, clears next event time</a:t>
            </a:r>
          </a:p>
          <a:p>
            <a:r>
              <a:rPr lang="en-US" b="1" dirty="0"/>
              <a:t>Calculates time quantum</a:t>
            </a:r>
            <a:r>
              <a:rPr lang="en-US" dirty="0"/>
              <a:t> differently based on scheduler type:</a:t>
            </a:r>
          </a:p>
          <a:p>
            <a:r>
              <a:rPr lang="en-US" b="1" dirty="0"/>
              <a:t>-Dynamic Round Robin</a:t>
            </a:r>
            <a:r>
              <a:rPr lang="en-US" dirty="0"/>
              <a:t>: Computes quantum based on average remaining burst times</a:t>
            </a:r>
          </a:p>
          <a:p>
            <a:r>
              <a:rPr lang="en-US" b="1" dirty="0"/>
              <a:t>-Static RR</a:t>
            </a:r>
            <a:r>
              <a:rPr lang="en-US" dirty="0"/>
              <a:t>: Uses fixed quantum from scheduler</a:t>
            </a:r>
          </a:p>
          <a:p>
            <a:r>
              <a:rPr lang="en-US" b="1" dirty="0"/>
              <a:t>Starts process execution</a:t>
            </a:r>
            <a:r>
              <a:rPr lang="en-US" dirty="0"/>
              <a:t> - sets when the process begins and when its time slice ends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3E7D2-24E3-F35E-967E-AAF29BBBF0B3}"/>
              </a:ext>
            </a:extLst>
          </p:cNvPr>
          <p:cNvSpPr/>
          <p:nvPr/>
        </p:nvSpPr>
        <p:spPr>
          <a:xfrm>
            <a:off x="4334933" y="362187"/>
            <a:ext cx="72822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Selecting next process by dispatch-if-idle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BEB66-56B9-1213-4F06-E9612676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49"/>
          <a:stretch>
            <a:fillRect/>
          </a:stretch>
        </p:blipFill>
        <p:spPr>
          <a:xfrm>
            <a:off x="5212089" y="762297"/>
            <a:ext cx="5527929" cy="58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0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7741-4AC6-BBE4-6EDA-4CF16DD4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6F32-4918-9A99-CF67-742FBA21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97120-BB74-E723-8F3B-21B883554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255430"/>
          </a:xfrm>
        </p:spPr>
        <p:txBody>
          <a:bodyPr>
            <a:normAutofit/>
          </a:bodyPr>
          <a:lstStyle/>
          <a:p>
            <a:r>
              <a:rPr lang="en-US" b="1" dirty="0"/>
              <a:t>For other schedulers: Sets both SR and AR to 0 (not applicable)</a:t>
            </a:r>
          </a:p>
          <a:p>
            <a:r>
              <a:rPr lang="en-US" b="1" dirty="0"/>
              <a:t>For Dynamic RR:</a:t>
            </a:r>
          </a:p>
          <a:p>
            <a:r>
              <a:rPr lang="en-US" b="1" dirty="0"/>
              <a:t>-Calculates SR: Sums up the remaining burst times of all processes in the ready queue</a:t>
            </a:r>
          </a:p>
          <a:p>
            <a:r>
              <a:rPr lang="en-US" b="1" dirty="0"/>
              <a:t>-Calculates AR: Divides SR by the number of processes to get the average, ensuring it's at least 1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2137E-6260-E20A-0A65-14ED8BB9768C}"/>
              </a:ext>
            </a:extLst>
          </p:cNvPr>
          <p:cNvSpPr/>
          <p:nvPr/>
        </p:nvSpPr>
        <p:spPr>
          <a:xfrm>
            <a:off x="4334933" y="362187"/>
            <a:ext cx="72822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Updating Sum of Remaining bursts and Average Remaining burst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F999AA-6BBD-A36E-CC14-9EDE0A87C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908" y="869548"/>
            <a:ext cx="6277094" cy="54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5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5173-8CF4-CE58-8D4A-7CC1AFA68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13861-AFC4-085B-5912-BD5C7E4BF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933" y="870070"/>
            <a:ext cx="7131417" cy="3873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31F90-546B-5977-273E-DD5E8D88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Implementation of events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E91C2-CBD5-6128-7FE4-6C8F6D02C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23340"/>
            <a:ext cx="3200400" cy="5534660"/>
          </a:xfrm>
        </p:spPr>
        <p:txBody>
          <a:bodyPr>
            <a:normAutofit/>
          </a:bodyPr>
          <a:lstStyle/>
          <a:p>
            <a:r>
              <a:rPr lang="en-US" sz="1800" dirty="0"/>
              <a:t>1. Correct next event time computation .</a:t>
            </a:r>
          </a:p>
          <a:p>
            <a:r>
              <a:rPr lang="en-US" sz="1800" dirty="0"/>
              <a:t>2. "current time" must always be advanced to the time of the next event by a single assignment. (The variable cannot be "stepped" by a fixed increment until it reached the time of the next event.) </a:t>
            </a:r>
          </a:p>
          <a:p>
            <a:r>
              <a:rPr lang="en-US" sz="1800" dirty="0"/>
              <a:t>3. A display event is external event </a:t>
            </a:r>
          </a:p>
          <a:p>
            <a:r>
              <a:rPr lang="en-US" sz="1800" dirty="0"/>
              <a:t>4. Read command from the input file is an external event </a:t>
            </a:r>
          </a:p>
          <a:p>
            <a:r>
              <a:rPr lang="en-US" sz="1800" dirty="0"/>
              <a:t>5. Handle all internal events before external </a:t>
            </a:r>
          </a:p>
          <a:p>
            <a:r>
              <a:rPr lang="en-US" sz="1800" dirty="0"/>
              <a:t>6. The end of a time slice is an internal event.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4B9B22-36BB-20BB-00DA-B5C9B33D47E4}"/>
              </a:ext>
            </a:extLst>
          </p:cNvPr>
          <p:cNvSpPr/>
          <p:nvPr/>
        </p:nvSpPr>
        <p:spPr>
          <a:xfrm>
            <a:off x="4334933" y="362187"/>
            <a:ext cx="16053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Display Event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55A80-9054-76D9-7AEF-FF7AE8B43391}"/>
              </a:ext>
            </a:extLst>
          </p:cNvPr>
          <p:cNvSpPr/>
          <p:nvPr/>
        </p:nvSpPr>
        <p:spPr>
          <a:xfrm>
            <a:off x="4940214" y="3429000"/>
            <a:ext cx="6462169" cy="1314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62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Output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4974" y="331409"/>
            <a:ext cx="69880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Current system status </a:t>
            </a:r>
            <a:r>
              <a:rPr lang="en-US" dirty="0" err="1"/>
              <a:t>outputSRR</a:t>
            </a:r>
            <a:r>
              <a:rPr lang="en-US" sz="2000" dirty="0"/>
              <a:t> (Display at 9 and 16)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049BD-DD05-B4B6-39ED-10E3A9A5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914715"/>
            <a:ext cx="3803770" cy="5164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6B4B1D-A2B2-E3DD-0C8A-87C8F0AF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210" y="914715"/>
            <a:ext cx="4108080" cy="517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91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5E64-246B-1449-9AD7-B1E64099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95D5-9902-E3A7-EA16-5495A220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Output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6D0E3-C574-11C0-098B-63ED8DC0FA62}"/>
              </a:ext>
            </a:extLst>
          </p:cNvPr>
          <p:cNvSpPr/>
          <p:nvPr/>
        </p:nvSpPr>
        <p:spPr>
          <a:xfrm>
            <a:off x="4444973" y="331409"/>
            <a:ext cx="67610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Current system status </a:t>
            </a:r>
            <a:r>
              <a:rPr lang="en-US" dirty="0" err="1"/>
              <a:t>outputDRR</a:t>
            </a:r>
            <a:r>
              <a:rPr lang="en-US" sz="2000" b="1" dirty="0"/>
              <a:t> </a:t>
            </a:r>
            <a:r>
              <a:rPr lang="en-US" sz="2000" dirty="0"/>
              <a:t>(Display at 999999)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4E3E7B-C0CE-CB86-74F5-201898D5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099" y="731519"/>
            <a:ext cx="3485015" cy="596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20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5953-198A-D4CC-C9B1-80081601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30FE-3B8E-1328-F08C-89296CDE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Output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E4BE4-F394-2877-192A-72373B6D41B6}"/>
              </a:ext>
            </a:extLst>
          </p:cNvPr>
          <p:cNvSpPr/>
          <p:nvPr/>
        </p:nvSpPr>
        <p:spPr>
          <a:xfrm>
            <a:off x="4444974" y="331409"/>
            <a:ext cx="72898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Current system status </a:t>
            </a:r>
            <a:r>
              <a:rPr lang="en-US" dirty="0"/>
              <a:t>outputDRR1</a:t>
            </a:r>
            <a:r>
              <a:rPr lang="en-US" sz="2000" b="1" dirty="0"/>
              <a:t> </a:t>
            </a:r>
            <a:r>
              <a:rPr lang="en-US" sz="2000" dirty="0"/>
              <a:t>(Display at 999999)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95AD0-7F6D-E761-A015-01B20BD4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58"/>
          <a:stretch>
            <a:fillRect/>
          </a:stretch>
        </p:blipFill>
        <p:spPr>
          <a:xfrm>
            <a:off x="4253020" y="731519"/>
            <a:ext cx="4496031" cy="4038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E9BE2E-8CB5-C83F-819F-FF3EB14B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614"/>
          <a:stretch>
            <a:fillRect/>
          </a:stretch>
        </p:blipFill>
        <p:spPr>
          <a:xfrm>
            <a:off x="7343097" y="4081047"/>
            <a:ext cx="4496031" cy="22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24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55982-90F2-9D11-16BC-EB978FBC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CF59-37FD-8E91-74C8-5D87010A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Output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2FA0A-21CD-0BCA-D42E-E758419EDDBD}"/>
              </a:ext>
            </a:extLst>
          </p:cNvPr>
          <p:cNvSpPr/>
          <p:nvPr/>
        </p:nvSpPr>
        <p:spPr>
          <a:xfrm>
            <a:off x="4444974" y="331409"/>
            <a:ext cx="68223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Current system status </a:t>
            </a:r>
            <a:r>
              <a:rPr lang="en-US" dirty="0"/>
              <a:t>outputDRR2</a:t>
            </a:r>
            <a:r>
              <a:rPr lang="en-US" sz="2000" dirty="0"/>
              <a:t> (Display at 999999)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5B3ED6-79CC-34FC-CA47-CE132BAB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03" y="731519"/>
            <a:ext cx="4227797" cy="593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06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1B56-5B3E-380E-3B08-21E7E341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8532-E3CE-0824-47F0-77DB08A1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699"/>
            <a:ext cx="3200400" cy="1183641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Output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0492AE-347C-DE9D-5470-C1FD32042FCD}"/>
              </a:ext>
            </a:extLst>
          </p:cNvPr>
          <p:cNvSpPr/>
          <p:nvPr/>
        </p:nvSpPr>
        <p:spPr>
          <a:xfrm>
            <a:off x="4444974" y="331409"/>
            <a:ext cx="68223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Current system status </a:t>
            </a:r>
            <a:r>
              <a:rPr lang="en-US" dirty="0"/>
              <a:t>outputDRR3</a:t>
            </a:r>
            <a:r>
              <a:rPr lang="en-US" sz="2000" dirty="0"/>
              <a:t> (Display at 999999)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01C34-C913-16DE-96C1-2020A316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485"/>
          <a:stretch>
            <a:fillRect/>
          </a:stretch>
        </p:blipFill>
        <p:spPr>
          <a:xfrm>
            <a:off x="4117858" y="731519"/>
            <a:ext cx="4553184" cy="4129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DD50C6-56ED-9F27-DA77-77850803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812"/>
          <a:stretch>
            <a:fillRect/>
          </a:stretch>
        </p:blipFill>
        <p:spPr>
          <a:xfrm>
            <a:off x="6759458" y="4356100"/>
            <a:ext cx="4553184" cy="242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21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6851" y="984286"/>
            <a:ext cx="10058400" cy="2453181"/>
          </a:xfrm>
        </p:spPr>
        <p:txBody>
          <a:bodyPr>
            <a:normAutofit/>
          </a:bodyPr>
          <a:lstStyle/>
          <a:p>
            <a:r>
              <a:rPr lang="en-US" b="1" dirty="0"/>
              <a:t>Team Members:</a:t>
            </a:r>
          </a:p>
          <a:p>
            <a:r>
              <a:rPr lang="en-US" dirty="0"/>
              <a:t>	</a:t>
            </a:r>
            <a:r>
              <a:rPr lang="en-US" cap="none" dirty="0"/>
              <a:t>1. Mohammed Fahad Alharbi</a:t>
            </a:r>
          </a:p>
          <a:p>
            <a:r>
              <a:rPr lang="en-US" cap="none" dirty="0"/>
              <a:t>	2. Basel Al-Qurashi</a:t>
            </a:r>
          </a:p>
          <a:p>
            <a:r>
              <a:rPr lang="en-US" cap="none" dirty="0"/>
              <a:t>	3. Yasser </a:t>
            </a:r>
            <a:r>
              <a:rPr lang="en-US" cap="none" dirty="0" err="1"/>
              <a:t>Albogami</a:t>
            </a:r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40269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1118</TotalTime>
  <Words>1353</Words>
  <Application>Microsoft Office PowerPoint</Application>
  <PresentationFormat>Widescreen</PresentationFormat>
  <Paragraphs>135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Calibri</vt:lpstr>
      <vt:lpstr>Calibri Light</vt:lpstr>
      <vt:lpstr>Retrospect</vt:lpstr>
      <vt:lpstr>CPU Scheduling Simulator</vt:lpstr>
      <vt:lpstr>Input specification  </vt:lpstr>
      <vt:lpstr>Input specification  </vt:lpstr>
      <vt:lpstr>Implementation of queues   </vt:lpstr>
      <vt:lpstr>Required Data  </vt:lpstr>
      <vt:lpstr>Required Data  </vt:lpstr>
      <vt:lpstr>Required Data  </vt:lpstr>
      <vt:lpstr>System requirements</vt:lpstr>
      <vt:lpstr>System requirements</vt:lpstr>
      <vt:lpstr>Implementation of events </vt:lpstr>
      <vt:lpstr>Implementation of events </vt:lpstr>
      <vt:lpstr>Implementation of events </vt:lpstr>
      <vt:lpstr>Implementation of events </vt:lpstr>
      <vt:lpstr>Implementation of events </vt:lpstr>
      <vt:lpstr>Implementation of events </vt:lpstr>
      <vt:lpstr>Implementation of events </vt:lpstr>
      <vt:lpstr>Implementation of events </vt:lpstr>
      <vt:lpstr>Output Specification </vt:lpstr>
      <vt:lpstr>Output Specification </vt:lpstr>
      <vt:lpstr>Output Specification </vt:lpstr>
      <vt:lpstr>Output Specification </vt:lpstr>
      <vt:lpstr>Output Specification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Simulator</dc:title>
  <dc:creator>زينب علي عبدالله عبدالمانع</dc:creator>
  <cp:lastModifiedBy>محمد الحربي</cp:lastModifiedBy>
  <cp:revision>23</cp:revision>
  <dcterms:created xsi:type="dcterms:W3CDTF">2016-12-28T00:22:47Z</dcterms:created>
  <dcterms:modified xsi:type="dcterms:W3CDTF">2025-11-20T17:39:14Z</dcterms:modified>
</cp:coreProperties>
</file>